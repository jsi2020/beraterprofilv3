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CD40-8A1F-C5E1-14DF-9776D7848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B025-00AD-C47D-9F4A-AA74E30E3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FB62F-D07A-A646-FB2E-821A54BD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FD632-1D7F-AAD1-F6DF-F038ABA3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9A563-A3FF-0541-D9C3-D1525A74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079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C602-026E-DBC3-092C-68FFD82E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A3CE-8B8D-DEB1-6C57-83B260B9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788F-1169-C4DC-00F4-3DEE8799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5EB9-D1F4-F2F1-AD42-CEB378A0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9334A-2D48-7A50-76F8-18D7B7F6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293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0EFC-64EA-A025-33CD-925A383B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B954-3022-1C6D-F191-58E366BC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27509-23A0-6352-8FA0-9D811E95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F2C93-6DE0-F76A-68B0-275F5737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602D6-94ED-5464-85DC-38526760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680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5430-C200-9933-D088-3B46D0F0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ABC3-B113-A2DB-DE8D-92E85DF51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C734E-AAA6-CBF8-C4F9-A5C5CAD2D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04FA-AC21-58A9-53CA-177D226D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65931-4311-4341-3275-F2C57C27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D9CD5-A6D5-8C74-1E48-066038AE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89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78DB-DD53-86A0-0600-3EABDC51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90B17-6C7C-A6F9-CA32-E5DD6778F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794BC-0445-06E8-3A3B-2E66E142E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ECB0E-6FFD-6417-08C6-4070E2CA4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E4F1A-19C5-C7AC-15E7-F2348B717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2586A-2943-063F-B7F7-80E5C3DA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9929-96CC-F473-BE7C-91314B94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F22EA-7AF1-5B8C-B989-67BA2D64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361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9C62-7DDF-D0E3-F946-0F536DAC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1C5A8-8D39-B4BF-4A30-E7BF4D51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6081C-C553-D67B-6DCA-6A61F850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99DA-09F2-3DF9-8841-41D6D714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6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BCFD0-3C21-9821-E735-E441B2A8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A09F00-FC8C-E391-C042-EB78417B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411B-7989-E00A-4B50-92871E72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803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8369-EB0B-3426-E337-C98C8DD6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B3E3-3023-B137-00D9-5261F437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E1F31-D7DD-F01A-EB51-E5A512574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0777-E6F3-FED2-635B-99AEB910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3091A-EA1A-BFC0-ED79-AB635C40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21BE4-E842-6295-B184-6AF5F7F1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861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46D7-90B4-5EF2-869E-58E7AC3A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86277-AE72-4A6B-D6B1-361171116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5D663-323C-CB08-2629-9A29E1B9C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F6C58-C7E2-8F77-5FA8-7D28F759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248E9-3A3E-6DCA-49A3-7022F3E8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6901E-0D99-353A-550F-F206335C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954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EC19-6B90-39A5-16E0-EF4331A2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A05F-40B5-D0CD-CA9C-CA910D633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1E04-7B04-CBD4-BA44-B2A4BED3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D046-F07D-8E6C-BC1C-05BD1BD8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52240-D0A4-9F09-E105-C4CB4F2C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493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8245DC-271F-2711-F5C7-AFB339051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9EFB2-526D-56F0-004D-B8664522A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47A6-BCDF-4056-4969-DE64FC12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85182-0F30-B648-ABA3-C83F016B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254A-CF92-16AC-FECB-38FFAC27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054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7EA2D-321B-8008-CF9F-154CB1C9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C549A-0DFD-51F8-311B-15484E7BA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9BA9F-31AB-3392-36A4-A52AA067D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0B70E-D6BC-4771-BE5B-2EFBFA852128}" type="datetimeFigureOut">
              <a:rPr lang="en-DE" smtClean="0"/>
              <a:t>07/12/2026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65B97-FA61-D0C3-E841-95BBB5DED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4EC08-D5A5-7A43-C858-8FDF92529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BB666-A3BA-4ED6-BF65-46E41EE34B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425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16">
            <a:extLst>
              <a:ext uri="{FF2B5EF4-FFF2-40B4-BE49-F238E27FC236}">
                <a16:creationId xmlns:a16="http://schemas.microsoft.com/office/drawing/2014/main" id="{7D4FA9C6-D9C3-C228-7C46-F1BAC3BC3F58}"/>
              </a:ext>
            </a:extLst>
          </p:cNvPr>
          <p:cNvCxnSpPr>
            <a:cxnSpLocks/>
          </p:cNvCxnSpPr>
          <p:nvPr/>
        </p:nvCxnSpPr>
        <p:spPr bwMode="gray">
          <a:xfrm flipH="1">
            <a:off x="581499" y="2530812"/>
            <a:ext cx="11111046" cy="9094"/>
          </a:xfrm>
          <a:prstGeom prst="line">
            <a:avLst/>
          </a:prstGeom>
          <a:ln w="508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3">
            <a:extLst>
              <a:ext uri="{FF2B5EF4-FFF2-40B4-BE49-F238E27FC236}">
                <a16:creationId xmlns:a16="http://schemas.microsoft.com/office/drawing/2014/main" id="{05352F9E-19C5-C181-9EA1-517239CFE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48" y="27489"/>
            <a:ext cx="11111046" cy="1080000"/>
          </a:xfrm>
        </p:spPr>
        <p:txBody>
          <a:bodyPr vert="horz"/>
          <a:lstStyle/>
          <a:p>
            <a:r>
              <a:rPr sz="2400" b="1">
                <a:latin typeface="Calibri"/>
              </a:rPr>
              <a:t>Beraterprofil – Funknetzplanung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F3D78587-7E01-5CB7-EB44-7E181F61E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2189" y="972001"/>
            <a:ext cx="7768926" cy="1018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tabLst>
                <a:tab pos="1430303" algn="l"/>
                <a:tab pos="4038499" algn="l"/>
                <a:tab pos="6094261" algn="l"/>
                <a:tab pos="7802368" algn="r"/>
                <a:tab pos="7984926" algn="r"/>
              </a:tabLst>
              <a:defRPr/>
            </a:pPr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12" name="Textplatzhalter 54">
            <a:extLst>
              <a:ext uri="{FF2B5EF4-FFF2-40B4-BE49-F238E27FC236}">
                <a16:creationId xmlns:a16="http://schemas.microsoft.com/office/drawing/2014/main" id="{0367A4D7-421E-62FF-349C-DED1E41E6C82}"/>
              </a:ext>
            </a:extLst>
          </p:cNvPr>
          <p:cNvSpPr txBox="1">
            <a:spLocks/>
          </p:cNvSpPr>
          <p:nvPr/>
        </p:nvSpPr>
        <p:spPr>
          <a:xfrm>
            <a:off x="8045956" y="2606485"/>
            <a:ext cx="2198874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Ausbildung / Karriere</a:t>
            </a:r>
          </a:p>
        </p:txBody>
      </p:sp>
      <p:sp>
        <p:nvSpPr>
          <p:cNvPr id="13" name="Textplatzhalter 54">
            <a:extLst>
              <a:ext uri="{FF2B5EF4-FFF2-40B4-BE49-F238E27FC236}">
                <a16:creationId xmlns:a16="http://schemas.microsoft.com/office/drawing/2014/main" id="{09C45077-CCDA-C351-5275-646406BE0341}"/>
              </a:ext>
            </a:extLst>
          </p:cNvPr>
          <p:cNvSpPr txBox="1">
            <a:spLocks/>
          </p:cNvSpPr>
          <p:nvPr/>
        </p:nvSpPr>
        <p:spPr>
          <a:xfrm>
            <a:off x="4157044" y="2606485"/>
            <a:ext cx="277308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Relevante</a:t>
            </a: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 </a:t>
            </a: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Erfahrungen</a:t>
            </a: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 / Projekte</a:t>
            </a:r>
            <a:endParaRPr lang="de-DE" sz="1200" b="1" dirty="0">
              <a:solidFill>
                <a:schemeClr val="accent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14" name="Textplatzhalter 54">
            <a:extLst>
              <a:ext uri="{FF2B5EF4-FFF2-40B4-BE49-F238E27FC236}">
                <a16:creationId xmlns:a16="http://schemas.microsoft.com/office/drawing/2014/main" id="{88F7EA42-E0D2-892D-7C76-F1938AA1B2E4}"/>
              </a:ext>
            </a:extLst>
          </p:cNvPr>
          <p:cNvSpPr txBox="1">
            <a:spLocks/>
          </p:cNvSpPr>
          <p:nvPr/>
        </p:nvSpPr>
        <p:spPr>
          <a:xfrm>
            <a:off x="553881" y="2676793"/>
            <a:ext cx="166092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Kompetenzen</a:t>
            </a:r>
          </a:p>
        </p:txBody>
      </p:sp>
      <p:sp>
        <p:nvSpPr>
          <p:cNvPr id="15" name="Textplatzhalter 54">
            <a:extLst>
              <a:ext uri="{FF2B5EF4-FFF2-40B4-BE49-F238E27FC236}">
                <a16:creationId xmlns:a16="http://schemas.microsoft.com/office/drawing/2014/main" id="{A2C3FFFD-2D88-BBEE-3EB5-E57B7AE8BA94}"/>
              </a:ext>
            </a:extLst>
          </p:cNvPr>
          <p:cNvSpPr txBox="1">
            <a:spLocks/>
          </p:cNvSpPr>
          <p:nvPr/>
        </p:nvSpPr>
        <p:spPr>
          <a:xfrm>
            <a:off x="8094724" y="4370318"/>
            <a:ext cx="201056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alt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Abschluss / Zertifikate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02322E2-FFEE-058D-A4A2-DD7834A2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39" y="1034736"/>
            <a:ext cx="5743933" cy="22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4E64"/>
              </a:buClr>
              <a:tabLst>
                <a:tab pos="1072754" algn="l"/>
                <a:tab pos="3028950" algn="l"/>
                <a:tab pos="4570810" algn="l"/>
                <a:tab pos="5851922" algn="r"/>
                <a:tab pos="5988844" algn="r"/>
              </a:tabLst>
              <a:defRPr/>
            </a:pPr>
            <a:r>
              <a:rPr sz="1000" b="0">
                <a:latin typeface="Calibri"/>
              </a:rPr>
              <a:t>Consultant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3F08E46-8A87-AA74-DC62-634BEC65B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39" y="1330749"/>
            <a:ext cx="5743933" cy="208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4E64"/>
              </a:buClr>
              <a:tabLst>
                <a:tab pos="1072754" algn="l"/>
                <a:tab pos="3028950" algn="l"/>
                <a:tab pos="4570810" algn="l"/>
                <a:tab pos="5851922" algn="r"/>
                <a:tab pos="5988844" algn="r"/>
              </a:tabLst>
              <a:defRPr/>
            </a:pPr>
            <a:r>
              <a:rPr sz="1000" b="0">
                <a:latin typeface="Calibri"/>
              </a:rPr>
              <a:t>RF Planning, Optimization, SON</a:t>
            </a:r>
            <a:endParaRPr lang="de-DE" sz="1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feld 37">
            <a:extLst>
              <a:ext uri="{FF2B5EF4-FFF2-40B4-BE49-F238E27FC236}">
                <a16:creationId xmlns:a16="http://schemas.microsoft.com/office/drawing/2014/main" id="{2D7E7ECB-F50D-1B75-7424-F3EEE9CF3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239" y="1590943"/>
            <a:ext cx="732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6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 sz="14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latin typeface="Calibri"/>
              </a:rPr>
              <a:t>Über 16 Jahre Erfahrung in der Telekommunikationsbranche mit Fokus auf 3G/LTE/5G NR. Erfolgreiche Leitung von Rollout- und Optimierungsprojekten in mehreren Märkten. Starke Kenntnisse in SON, Automation und KPI-Verbesserung.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6E749CA-CA9E-C6B0-AD0B-0FD3E964A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Graphic 9" descr="User with solid fill">
            <a:extLst>
              <a:ext uri="{FF2B5EF4-FFF2-40B4-BE49-F238E27FC236}">
                <a16:creationId xmlns:a16="http://schemas.microsoft.com/office/drawing/2014/main" id="{56787822-4BDB-0918-0D3F-CE62445C9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148" y="874880"/>
            <a:ext cx="1643380" cy="1643380"/>
          </a:xfrm>
          <a:prstGeom prst="rect">
            <a:avLst/>
          </a:prstGeom>
        </p:spPr>
      </p:pic>
      <p:sp>
        <p:nvSpPr>
          <p:cNvPr id="22" name="Textplatzhalter 54">
            <a:extLst>
              <a:ext uri="{FF2B5EF4-FFF2-40B4-BE49-F238E27FC236}">
                <a16:creationId xmlns:a16="http://schemas.microsoft.com/office/drawing/2014/main" id="{0971A494-734F-2413-270C-C0790DAAF691}"/>
              </a:ext>
            </a:extLst>
          </p:cNvPr>
          <p:cNvSpPr txBox="1">
            <a:spLocks/>
          </p:cNvSpPr>
          <p:nvPr/>
        </p:nvSpPr>
        <p:spPr>
          <a:xfrm>
            <a:off x="553881" y="4541910"/>
            <a:ext cx="166092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Tool-</a:t>
            </a: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Kenntnisse</a:t>
            </a:r>
            <a:endParaRPr lang="en-US" sz="1200" b="1" dirty="0">
              <a:solidFill>
                <a:schemeClr val="accent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9E2D4479-4A98-2A71-198E-885E5130715E}"/>
              </a:ext>
            </a:extLst>
          </p:cNvPr>
          <p:cNvSpPr txBox="1">
            <a:spLocks/>
          </p:cNvSpPr>
          <p:nvPr/>
        </p:nvSpPr>
        <p:spPr bwMode="gray">
          <a:xfrm>
            <a:off x="438105" y="4788720"/>
            <a:ext cx="3416845" cy="16342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Open Sans" panose="020B0606030504020204" pitchFamily="34" charset="0"/>
              <a:buNone/>
            </a:pPr>
            <a:br>
              <a:rPr lang="en-GB" sz="1000" dirty="0"/>
            </a:b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53D69B2C-4D26-9DE2-40F4-28F20E109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6" name="Gerader Verbinder 21">
            <a:extLst>
              <a:ext uri="{FF2B5EF4-FFF2-40B4-BE49-F238E27FC236}">
                <a16:creationId xmlns:a16="http://schemas.microsoft.com/office/drawing/2014/main" id="{95C97C03-9094-335F-C25C-DEBCBC8266E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8207528" y="4293899"/>
            <a:ext cx="3483661" cy="1166"/>
          </a:xfrm>
          <a:prstGeom prst="line">
            <a:avLst/>
          </a:prstGeom>
          <a:ln w="508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platzhalter 54">
            <a:extLst>
              <a:ext uri="{FF2B5EF4-FFF2-40B4-BE49-F238E27FC236}">
                <a16:creationId xmlns:a16="http://schemas.microsoft.com/office/drawing/2014/main" id="{AA326430-3000-BD95-C39B-3C0314B501CF}"/>
              </a:ext>
            </a:extLst>
          </p:cNvPr>
          <p:cNvSpPr txBox="1">
            <a:spLocks/>
          </p:cNvSpPr>
          <p:nvPr/>
        </p:nvSpPr>
        <p:spPr>
          <a:xfrm>
            <a:off x="2308326" y="976041"/>
            <a:ext cx="120297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Position:</a:t>
            </a:r>
          </a:p>
        </p:txBody>
      </p:sp>
      <p:sp>
        <p:nvSpPr>
          <p:cNvPr id="3" name="Textplatzhalter 54">
            <a:extLst>
              <a:ext uri="{FF2B5EF4-FFF2-40B4-BE49-F238E27FC236}">
                <a16:creationId xmlns:a16="http://schemas.microsoft.com/office/drawing/2014/main" id="{DBFB4434-C3A9-4603-FF77-341C443E9352}"/>
              </a:ext>
            </a:extLst>
          </p:cNvPr>
          <p:cNvSpPr txBox="1">
            <a:spLocks/>
          </p:cNvSpPr>
          <p:nvPr/>
        </p:nvSpPr>
        <p:spPr>
          <a:xfrm>
            <a:off x="2301478" y="1276593"/>
            <a:ext cx="1209818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Schwerpunkte:</a:t>
            </a:r>
          </a:p>
        </p:txBody>
      </p:sp>
      <p:sp>
        <p:nvSpPr>
          <p:cNvPr id="27" name="Textplatzhalter 54">
            <a:extLst>
              <a:ext uri="{FF2B5EF4-FFF2-40B4-BE49-F238E27FC236}">
                <a16:creationId xmlns:a16="http://schemas.microsoft.com/office/drawing/2014/main" id="{FC535DA9-3F81-D7C4-D2F5-589E509E0199}"/>
              </a:ext>
            </a:extLst>
          </p:cNvPr>
          <p:cNvSpPr txBox="1">
            <a:spLocks/>
          </p:cNvSpPr>
          <p:nvPr/>
        </p:nvSpPr>
        <p:spPr>
          <a:xfrm>
            <a:off x="2308325" y="1586855"/>
            <a:ext cx="1202971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Summary: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484E451-B41D-2133-516A-052366A4C9A7}"/>
              </a:ext>
            </a:extLst>
          </p:cNvPr>
          <p:cNvSpPr txBox="1"/>
          <p:nvPr/>
        </p:nvSpPr>
        <p:spPr>
          <a:xfrm>
            <a:off x="244765" y="4869126"/>
            <a:ext cx="35287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4850" lvl="1" indent="-171450" eaLnBrk="0" fontAlgn="base" hangingPunct="0">
              <a:lnSpc>
                <a:spcPct val="100000"/>
              </a:lnSpc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OSS / Command Management</a:t>
            </a:r>
            <a:r>
              <a:rPr lang="en-GB" sz="1000" b="0" dirty="0">
                <a:latin typeface="Calibri"/>
              </a:rPr>
              <a:t>: Huawei U2000, U2020MBB, NASTAR, PRS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Statistik</a:t>
            </a:r>
            <a:r>
              <a:rPr lang="en-GB" sz="1000" b="1" dirty="0">
                <a:latin typeface="Calibri"/>
              </a:rPr>
              <a:t> und Analyse</a:t>
            </a:r>
            <a:r>
              <a:rPr lang="en-GB" sz="1000" b="0" dirty="0">
                <a:latin typeface="Calibri"/>
              </a:rPr>
              <a:t>: Power BI, Excel, Tableau, Google Analytics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Planung</a:t>
            </a:r>
            <a:r>
              <a:rPr lang="en-GB" sz="1000" b="1" dirty="0">
                <a:latin typeface="Calibri"/>
              </a:rPr>
              <a:t> und </a:t>
            </a:r>
            <a:r>
              <a:rPr lang="en-GB" sz="1000" b="1" dirty="0" err="1">
                <a:latin typeface="Calibri"/>
              </a:rPr>
              <a:t>Optimierung</a:t>
            </a:r>
            <a:r>
              <a:rPr lang="en-GB" sz="1000" b="0" dirty="0">
                <a:latin typeface="Calibri"/>
              </a:rPr>
              <a:t>: Atoll, UUNet, Musa, </a:t>
            </a:r>
            <a:r>
              <a:rPr lang="en-GB" sz="1000" b="0" dirty="0" err="1">
                <a:latin typeface="Calibri"/>
              </a:rPr>
              <a:t>Mapinfo</a:t>
            </a:r>
            <a:r>
              <a:rPr lang="en-GB" sz="1000" b="0" dirty="0">
                <a:latin typeface="Calibri"/>
              </a:rPr>
              <a:t>, QGIS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Drive Test und Post-Processing</a:t>
            </a:r>
            <a:r>
              <a:rPr lang="en-GB" sz="1000" b="0" dirty="0">
                <a:latin typeface="Calibri"/>
              </a:rPr>
              <a:t>: TEMS, Huawei Probe, Nemo, </a:t>
            </a:r>
            <a:r>
              <a:rPr lang="en-GB" sz="1000" b="0" dirty="0" err="1">
                <a:latin typeface="Calibri"/>
              </a:rPr>
              <a:t>Actix</a:t>
            </a:r>
            <a:r>
              <a:rPr lang="en-GB" sz="1000" b="0" dirty="0">
                <a:latin typeface="Calibri"/>
              </a:rPr>
              <a:t>, TEMS Discovery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Mapping</a:t>
            </a:r>
            <a:r>
              <a:rPr lang="en-GB" sz="1000" b="0" dirty="0">
                <a:latin typeface="Calibri"/>
              </a:rPr>
              <a:t>: </a:t>
            </a:r>
            <a:r>
              <a:rPr lang="en-GB" sz="1000" b="0" dirty="0" err="1">
                <a:latin typeface="Calibri"/>
              </a:rPr>
              <a:t>Mapinfo</a:t>
            </a:r>
            <a:r>
              <a:rPr lang="en-GB" sz="1000" b="0" dirty="0">
                <a:latin typeface="Calibri"/>
              </a:rPr>
              <a:t>, QGIS, Google Earth</a:t>
            </a:r>
          </a:p>
          <a:p>
            <a:endParaRPr lang="en-GB" sz="10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206FD09-127D-E962-767F-5E1CCF157475}"/>
              </a:ext>
            </a:extLst>
          </p:cNvPr>
          <p:cNvSpPr txBox="1"/>
          <p:nvPr/>
        </p:nvSpPr>
        <p:spPr>
          <a:xfrm>
            <a:off x="244765" y="3020190"/>
            <a:ext cx="35287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4850" lvl="1" indent="-17145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0" dirty="0">
                <a:latin typeface="Calibri"/>
              </a:rPr>
              <a:t>RF Planning &amp; Optimization</a:t>
            </a:r>
            <a:endParaRPr lang="en-GB" sz="1000" dirty="0"/>
          </a:p>
          <a:p>
            <a:pPr marL="434850" lvl="1" indent="-17145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0" dirty="0">
                <a:latin typeface="Calibri"/>
              </a:rPr>
              <a:t>5G NR / LTE / UMTS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0" dirty="0">
                <a:latin typeface="Calibri"/>
              </a:rPr>
              <a:t>SON &amp; Automation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0" dirty="0" err="1">
                <a:latin typeface="Calibri"/>
              </a:rPr>
              <a:t>Projektmanagement</a:t>
            </a:r>
            <a:endParaRPr lang="en-GB" sz="1000" dirty="0">
              <a:latin typeface="Calibri"/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0" dirty="0" err="1">
                <a:latin typeface="Calibri"/>
              </a:rPr>
              <a:t>Kundenmanagement</a:t>
            </a:r>
            <a:endParaRPr lang="en-GB" sz="1000" dirty="0">
              <a:latin typeface="Calibri"/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0" dirty="0">
                <a:latin typeface="Calibri"/>
              </a:rPr>
              <a:t>Vendor-</a:t>
            </a:r>
            <a:r>
              <a:rPr lang="en-GB" sz="1000" b="0" dirty="0" err="1">
                <a:latin typeface="Calibri"/>
              </a:rPr>
              <a:t>übergreifend</a:t>
            </a:r>
            <a:r>
              <a:rPr lang="en-GB" sz="1000" b="0" dirty="0">
                <a:latin typeface="Calibri"/>
              </a:rPr>
              <a:t> (Huawei, Nokia, ZTE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0" dirty="0" err="1">
                <a:latin typeface="Calibri"/>
              </a:rPr>
              <a:t>Datenanalyse</a:t>
            </a:r>
            <a:r>
              <a:rPr lang="en-GB" sz="1000" b="0" dirty="0">
                <a:latin typeface="Calibri"/>
              </a:rPr>
              <a:t> &amp; </a:t>
            </a:r>
            <a:r>
              <a:rPr lang="en-GB" sz="1000" b="0" dirty="0" err="1">
                <a:latin typeface="Calibri"/>
              </a:rPr>
              <a:t>Visualisierung</a:t>
            </a:r>
            <a:endParaRPr lang="en-GB" sz="1000" b="0" dirty="0">
              <a:latin typeface="Calibri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31FE000-07FC-D729-18AA-82A47644A499}"/>
              </a:ext>
            </a:extLst>
          </p:cNvPr>
          <p:cNvSpPr txBox="1"/>
          <p:nvPr/>
        </p:nvSpPr>
        <p:spPr>
          <a:xfrm>
            <a:off x="3882189" y="2956946"/>
            <a:ext cx="35287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4850" lvl="1" indent="-171450" eaLnBrk="0" fontAlgn="base" hangingPunct="0">
              <a:lnSpc>
                <a:spcPct val="100000"/>
              </a:lnSpc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OSS / Command Management</a:t>
            </a:r>
            <a:r>
              <a:rPr lang="en-GB" sz="1000" b="0" dirty="0">
                <a:latin typeface="Calibri"/>
              </a:rPr>
              <a:t>: Huawei U2000, U2020MBB, NASTAR, PRS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Statistik</a:t>
            </a:r>
            <a:r>
              <a:rPr lang="en-GB" sz="1000" b="1" dirty="0">
                <a:latin typeface="Calibri"/>
              </a:rPr>
              <a:t> und Analyse</a:t>
            </a:r>
            <a:r>
              <a:rPr lang="en-GB" sz="1000" b="0" dirty="0">
                <a:latin typeface="Calibri"/>
              </a:rPr>
              <a:t>: Power BI, Excel, Tableau, Google Analytics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Planung</a:t>
            </a:r>
            <a:r>
              <a:rPr lang="en-GB" sz="1000" b="1" dirty="0">
                <a:latin typeface="Calibri"/>
              </a:rPr>
              <a:t> und </a:t>
            </a:r>
            <a:r>
              <a:rPr lang="en-GB" sz="1000" b="1" dirty="0" err="1">
                <a:latin typeface="Calibri"/>
              </a:rPr>
              <a:t>Optimierung</a:t>
            </a:r>
            <a:r>
              <a:rPr lang="en-GB" sz="1000" b="0" dirty="0">
                <a:latin typeface="Calibri"/>
              </a:rPr>
              <a:t>: Atoll, UUNet, Musa, </a:t>
            </a:r>
            <a:r>
              <a:rPr lang="en-GB" sz="1000" b="0" dirty="0" err="1">
                <a:latin typeface="Calibri"/>
              </a:rPr>
              <a:t>Mapinfo</a:t>
            </a:r>
            <a:r>
              <a:rPr lang="en-GB" sz="1000" b="0" dirty="0">
                <a:latin typeface="Calibri"/>
              </a:rPr>
              <a:t>, QGIS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Drive Test und Post-Processing</a:t>
            </a:r>
            <a:r>
              <a:rPr lang="en-GB" sz="1000" b="0" dirty="0">
                <a:latin typeface="Calibri"/>
              </a:rPr>
              <a:t>: TEMS, Huawei Probe, Nemo, </a:t>
            </a:r>
            <a:r>
              <a:rPr lang="en-GB" sz="1000" b="0" dirty="0" err="1">
                <a:latin typeface="Calibri"/>
              </a:rPr>
              <a:t>Actix</a:t>
            </a:r>
            <a:r>
              <a:rPr lang="en-GB" sz="1000" b="0" dirty="0">
                <a:latin typeface="Calibri"/>
              </a:rPr>
              <a:t>, TEMS Discovery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Mapping</a:t>
            </a:r>
            <a:r>
              <a:rPr lang="en-GB" sz="1000" b="0" dirty="0">
                <a:latin typeface="Calibri"/>
              </a:rPr>
              <a:t>: </a:t>
            </a:r>
            <a:r>
              <a:rPr lang="en-GB" sz="1000" b="0" dirty="0" err="1">
                <a:latin typeface="Calibri"/>
              </a:rPr>
              <a:t>Mapinfo</a:t>
            </a:r>
            <a:r>
              <a:rPr lang="en-GB" sz="1000" b="0" dirty="0">
                <a:latin typeface="Calibri"/>
              </a:rPr>
              <a:t>, QGIS, Google Earth</a:t>
            </a:r>
          </a:p>
          <a:p>
            <a:endParaRPr lang="en-GB" sz="1000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DE9CC59-A0CA-A6E2-6F3E-940C0415BC1F}"/>
              </a:ext>
            </a:extLst>
          </p:cNvPr>
          <p:cNvSpPr txBox="1"/>
          <p:nvPr/>
        </p:nvSpPr>
        <p:spPr>
          <a:xfrm>
            <a:off x="7766652" y="2964793"/>
            <a:ext cx="3528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4850" lvl="1" indent="-171450" eaLnBrk="0" fontAlgn="base" hangingPunct="0">
              <a:lnSpc>
                <a:spcPct val="100000"/>
              </a:lnSpc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OSS / Command Management</a:t>
            </a:r>
            <a:r>
              <a:rPr lang="en-GB" sz="1000" b="0" dirty="0">
                <a:latin typeface="Calibri"/>
              </a:rPr>
              <a:t>: Huawei U2000, U2020MBB, NASTAR, PRS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Statistik</a:t>
            </a:r>
            <a:r>
              <a:rPr lang="en-GB" sz="1000" b="1" dirty="0">
                <a:latin typeface="Calibri"/>
              </a:rPr>
              <a:t> und Analyse</a:t>
            </a:r>
            <a:r>
              <a:rPr lang="en-GB" sz="1000" b="0" dirty="0">
                <a:latin typeface="Calibri"/>
              </a:rPr>
              <a:t>: Power BI, Excel, Tableau, Google Analytics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Planung</a:t>
            </a:r>
            <a:r>
              <a:rPr lang="en-GB" sz="1000" b="1" dirty="0">
                <a:latin typeface="Calibri"/>
              </a:rPr>
              <a:t> und </a:t>
            </a:r>
            <a:r>
              <a:rPr lang="en-GB" sz="1000" b="1" dirty="0" err="1">
                <a:latin typeface="Calibri"/>
              </a:rPr>
              <a:t>Optimierung</a:t>
            </a:r>
            <a:r>
              <a:rPr lang="en-GB" sz="1000" b="0" dirty="0">
                <a:latin typeface="Calibri"/>
              </a:rPr>
              <a:t>: Atoll, UUNet, Musa, </a:t>
            </a:r>
            <a:r>
              <a:rPr lang="en-GB" sz="1000" b="0" dirty="0" err="1">
                <a:latin typeface="Calibri"/>
              </a:rPr>
              <a:t>Mapinfo</a:t>
            </a:r>
            <a:r>
              <a:rPr lang="en-GB" sz="1000" b="0" dirty="0">
                <a:latin typeface="Calibri"/>
              </a:rPr>
              <a:t>, QGIS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Drive Test und Post-Processing</a:t>
            </a:r>
            <a:r>
              <a:rPr lang="en-GB" sz="1000" b="0" dirty="0">
                <a:latin typeface="Calibri"/>
              </a:rPr>
              <a:t>: TEMS, Huawei Probe, Nemo, </a:t>
            </a:r>
            <a:r>
              <a:rPr lang="en-GB" sz="1000" b="0" dirty="0" err="1">
                <a:latin typeface="Calibri"/>
              </a:rPr>
              <a:t>Actix</a:t>
            </a:r>
            <a:r>
              <a:rPr lang="en-GB" sz="1000" b="0" dirty="0">
                <a:latin typeface="Calibri"/>
              </a:rPr>
              <a:t>, TEMS Discovery</a:t>
            </a:r>
          </a:p>
          <a:p>
            <a:endParaRPr lang="en-GB" sz="10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C4F99C3-34D7-DD86-06D0-7E81C756D39B}"/>
              </a:ext>
            </a:extLst>
          </p:cNvPr>
          <p:cNvSpPr txBox="1"/>
          <p:nvPr/>
        </p:nvSpPr>
        <p:spPr>
          <a:xfrm>
            <a:off x="7766651" y="4718786"/>
            <a:ext cx="3528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4850" lvl="1" indent="-171450" eaLnBrk="0" fontAlgn="base" hangingPunct="0">
              <a:lnSpc>
                <a:spcPct val="100000"/>
              </a:lnSpc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OSS / Command Management</a:t>
            </a:r>
            <a:r>
              <a:rPr lang="en-GB" sz="1000" b="0" dirty="0">
                <a:latin typeface="Calibri"/>
              </a:rPr>
              <a:t>: Huawei U2000, U2020MBB, NASTAR, PRS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Statistik</a:t>
            </a:r>
            <a:r>
              <a:rPr lang="en-GB" sz="1000" b="1" dirty="0">
                <a:latin typeface="Calibri"/>
              </a:rPr>
              <a:t> und Analyse</a:t>
            </a:r>
            <a:r>
              <a:rPr lang="en-GB" sz="1000" b="0" dirty="0">
                <a:latin typeface="Calibri"/>
              </a:rPr>
              <a:t>: Power BI, Excel, Tableau, Google Analytics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 err="1">
                <a:latin typeface="Calibri"/>
              </a:rPr>
              <a:t>Planung</a:t>
            </a:r>
            <a:r>
              <a:rPr lang="en-GB" sz="1000" b="1" dirty="0">
                <a:latin typeface="Calibri"/>
              </a:rPr>
              <a:t> und </a:t>
            </a:r>
            <a:r>
              <a:rPr lang="en-GB" sz="1000" b="1" dirty="0" err="1">
                <a:latin typeface="Calibri"/>
              </a:rPr>
              <a:t>Optimierung</a:t>
            </a:r>
            <a:r>
              <a:rPr lang="en-GB" sz="1000" b="0" dirty="0">
                <a:latin typeface="Calibri"/>
              </a:rPr>
              <a:t>: Atoll, UUNet, Musa, </a:t>
            </a:r>
            <a:r>
              <a:rPr lang="en-GB" sz="1000" b="0" dirty="0" err="1">
                <a:latin typeface="Calibri"/>
              </a:rPr>
              <a:t>Mapinfo</a:t>
            </a:r>
            <a:r>
              <a:rPr lang="en-GB" sz="1000" b="0" dirty="0">
                <a:latin typeface="Calibri"/>
              </a:rPr>
              <a:t>, QGIS</a:t>
            </a:r>
          </a:p>
          <a:p>
            <a:pPr marL="442912" lvl="1" indent="-1714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latin typeface="Calibri"/>
              </a:rPr>
              <a:t>Drive Test und Post-Processing</a:t>
            </a:r>
            <a:r>
              <a:rPr lang="en-GB" sz="1000" b="0" dirty="0">
                <a:latin typeface="Calibri"/>
              </a:rPr>
              <a:t>: TEMS, Huawei Probe, Nemo, </a:t>
            </a:r>
            <a:r>
              <a:rPr lang="en-GB" sz="1000" b="0" dirty="0" err="1">
                <a:latin typeface="Calibri"/>
              </a:rPr>
              <a:t>Actix</a:t>
            </a:r>
            <a:r>
              <a:rPr lang="en-GB" sz="1000" b="0" dirty="0">
                <a:latin typeface="Calibri"/>
              </a:rPr>
              <a:t>, TEMS Discovery</a:t>
            </a:r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961449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Breitbild</PresentationFormat>
  <Paragraphs>39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Open Sans</vt:lpstr>
      <vt:lpstr>Tahoma</vt:lpstr>
      <vt:lpstr>Office Theme</vt:lpstr>
      <vt:lpstr>Beraterprofil – Funknetzplanung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Farooq</dc:creator>
  <cp:lastModifiedBy>Jawwad Siddique</cp:lastModifiedBy>
  <cp:revision>3</cp:revision>
  <dcterms:created xsi:type="dcterms:W3CDTF">2026-07-06T08:57:29Z</dcterms:created>
  <dcterms:modified xsi:type="dcterms:W3CDTF">2026-07-12T17:45:38Z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042b77-ffe7-45ca-84ef-0ad39e45f03d_Enabled">
    <vt:lpwstr>true</vt:lpwstr>
  </property>
  <property fmtid="{D5CDD505-2E9C-101B-9397-08002B2CF9AE}" pid="3" name="MSIP_Label_02042b77-ffe7-45ca-84ef-0ad39e45f03d_SetDate">
    <vt:lpwstr>2026-07-06T09:03:31Z</vt:lpwstr>
  </property>
  <property fmtid="{D5CDD505-2E9C-101B-9397-08002B2CF9AE}" pid="4" name="MSIP_Label_02042b77-ffe7-45ca-84ef-0ad39e45f03d_Method">
    <vt:lpwstr>Standard</vt:lpwstr>
  </property>
  <property fmtid="{D5CDD505-2E9C-101B-9397-08002B2CF9AE}" pid="5" name="MSIP_Label_02042b77-ffe7-45ca-84ef-0ad39e45f03d_Name">
    <vt:lpwstr>Intern</vt:lpwstr>
  </property>
  <property fmtid="{D5CDD505-2E9C-101B-9397-08002B2CF9AE}" pid="6" name="MSIP_Label_02042b77-ffe7-45ca-84ef-0ad39e45f03d_SiteId">
    <vt:lpwstr>80d97cff-12dd-499f-8b18-897bc70799ef</vt:lpwstr>
  </property>
  <property fmtid="{D5CDD505-2E9C-101B-9397-08002B2CF9AE}" pid="7" name="MSIP_Label_02042b77-ffe7-45ca-84ef-0ad39e45f03d_ActionId">
    <vt:lpwstr>d4be7590-a532-4e16-8267-6c0cbc98f701</vt:lpwstr>
  </property>
  <property fmtid="{D5CDD505-2E9C-101B-9397-08002B2CF9AE}" pid="8" name="MSIP_Label_02042b77-ffe7-45ca-84ef-0ad39e45f03d_ContentBits">
    <vt:lpwstr>0</vt:lpwstr>
  </property>
  <property fmtid="{D5CDD505-2E9C-101B-9397-08002B2CF9AE}" pid="9" name="MSIP_Label_02042b77-ffe7-45ca-84ef-0ad39e45f03d_Tag">
    <vt:lpwstr>10, 3, 0, 1</vt:lpwstr>
  </property>
</Properties>
</file>